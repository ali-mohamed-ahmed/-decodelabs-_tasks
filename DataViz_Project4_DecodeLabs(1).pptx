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63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0A4A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0A4A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0A4A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0A4A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0A4A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Chair</c:v>
                  </c:pt>
                  <c:pt idx="1">
                    <c:v>Printer</c:v>
                  </c:pt>
                  <c:pt idx="2">
                    <c:v>Laptop</c:v>
                  </c:pt>
                  <c:pt idx="3">
                    <c:v>Tablet</c:v>
                  </c:pt>
                  <c:pt idx="4">
                    <c:v>Monitor</c:v>
                  </c:pt>
                  <c:pt idx="5">
                    <c:v>Desk</c:v>
                  </c:pt>
                  <c:pt idx="6">
                    <c:v>Phone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195620</c:v>
                </c:pt>
                <c:pt idx="1">
                  <c:v>195613</c:v>
                </c:pt>
                <c:pt idx="2">
                  <c:v>192127</c:v>
                </c:pt>
                <c:pt idx="3">
                  <c:v>186569</c:v>
                </c:pt>
                <c:pt idx="4">
                  <c:v>175651</c:v>
                </c:pt>
                <c:pt idx="5">
                  <c:v>167460</c:v>
                </c:pt>
                <c:pt idx="6">
                  <c:v>151722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632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63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535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0A4A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8909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Cancelled</c:v>
                  </c:pt>
                  <c:pt idx="1">
                    <c:v>Returned</c:v>
                  </c:pt>
                  <c:pt idx="2">
                    <c:v>Pending</c:v>
                  </c:pt>
                  <c:pt idx="3">
                    <c:v>Shipped</c:v>
                  </c:pt>
                  <c:pt idx="4">
                    <c:v>Delivered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250</c:v>
                </c:pt>
                <c:pt idx="1">
                  <c:v>247</c:v>
                </c:pt>
                <c:pt idx="2">
                  <c:v>237</c:v>
                </c:pt>
                <c:pt idx="3">
                  <c:v>235</c:v>
                </c:pt>
                <c:pt idx="4">
                  <c:v>231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632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1565C0"/>
            </a:solidFill>
            <a:ln w="31750" cap="flat">
              <a:solidFill>
                <a:srgbClr val="1565C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565C0"/>
              </a:solidFill>
              <a:ln w="9525" cap="flat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56686</c:v>
                </c:pt>
                <c:pt idx="1">
                  <c:v>40118</c:v>
                </c:pt>
                <c:pt idx="2">
                  <c:v>48609</c:v>
                </c:pt>
                <c:pt idx="3">
                  <c:v>27752</c:v>
                </c:pt>
                <c:pt idx="4">
                  <c:v>63837</c:v>
                </c:pt>
                <c:pt idx="5">
                  <c:v>49500</c:v>
                </c:pt>
                <c:pt idx="6">
                  <c:v>42821</c:v>
                </c:pt>
                <c:pt idx="7">
                  <c:v>54352</c:v>
                </c:pt>
                <c:pt idx="8">
                  <c:v>29527</c:v>
                </c:pt>
                <c:pt idx="9">
                  <c:v>52608</c:v>
                </c:pt>
                <c:pt idx="10">
                  <c:v>43080</c:v>
                </c:pt>
                <c:pt idx="11">
                  <c:v>43755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EF5350"/>
            </a:solidFill>
            <a:ln w="31750" cap="flat">
              <a:solidFill>
                <a:srgbClr val="EF535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5350"/>
              </a:solidFill>
              <a:ln w="9525" cap="flat">
                <a:solidFill>
                  <a:srgbClr val="EF53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38528</c:v>
                </c:pt>
                <c:pt idx="1">
                  <c:v>36910</c:v>
                </c:pt>
                <c:pt idx="2">
                  <c:v>36031</c:v>
                </c:pt>
                <c:pt idx="3">
                  <c:v>49613</c:v>
                </c:pt>
                <c:pt idx="4">
                  <c:v>27909</c:v>
                </c:pt>
                <c:pt idx="5">
                  <c:v>68069</c:v>
                </c:pt>
                <c:pt idx="6">
                  <c:v>42964</c:v>
                </c:pt>
                <c:pt idx="7">
                  <c:v>31991</c:v>
                </c:pt>
                <c:pt idx="8">
                  <c:v>39795</c:v>
                </c:pt>
                <c:pt idx="9">
                  <c:v>37227</c:v>
                </c:pt>
                <c:pt idx="10">
                  <c:v>32414</c:v>
                </c:pt>
                <c:pt idx="11">
                  <c:v>38786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46E7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63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0A4A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0A4A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0A4A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0A4A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Instagram</c:v>
                  </c:pt>
                  <c:pt idx="1">
                    <c:v>Email</c:v>
                  </c:pt>
                  <c:pt idx="2">
                    <c:v>Google</c:v>
                  </c:pt>
                  <c:pt idx="3">
                    <c:v>Facebook</c:v>
                  </c:pt>
                  <c:pt idx="4">
                    <c:v>Referral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275285</c:v>
                </c:pt>
                <c:pt idx="1">
                  <c:v>261809</c:v>
                </c:pt>
                <c:pt idx="2">
                  <c:v>250441</c:v>
                </c:pt>
                <c:pt idx="3">
                  <c:v>250411</c:v>
                </c:pt>
                <c:pt idx="4">
                  <c:v>226816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632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6323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63238"/>
                </a:solidFill>
                <a:latin typeface="Arial"/>
              </a:rPr>
              <a:t>Total Revenue by Coupon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($)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63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0A4A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0A4A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535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FREESHIP</c:v>
                  </c:pt>
                  <c:pt idx="1">
                    <c:v>No Coupon</c:v>
                  </c:pt>
                  <c:pt idx="2">
                    <c:v>SAVE10</c:v>
                  </c:pt>
                  <c:pt idx="3">
                    <c:v>WINTER15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335037</c:v>
                </c:pt>
                <c:pt idx="1">
                  <c:v>322401</c:v>
                </c:pt>
                <c:pt idx="2">
                  <c:v>304840</c:v>
                </c:pt>
                <c:pt idx="3">
                  <c:v>302484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632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6323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63238"/>
                </a:solidFill>
                <a:latin typeface="Arial"/>
              </a:rPr>
              <a:t>Avg Order Value by Coupon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Order ($)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63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0A4A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0A4A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535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FREESHIP</c:v>
                  </c:pt>
                  <c:pt idx="1">
                    <c:v>No Coupon</c:v>
                  </c:pt>
                  <c:pt idx="2">
                    <c:v>SAVE10</c:v>
                  </c:pt>
                  <c:pt idx="3">
                    <c:v>WINTER15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1070</c:v>
                </c:pt>
                <c:pt idx="1">
                  <c:v>1043</c:v>
                </c:pt>
                <c:pt idx="2">
                  <c:v>1066</c:v>
                </c:pt>
                <c:pt idx="3">
                  <c:v>1036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632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1D6FA4">
              <a:alpha val="30000"/>
            </a:srgbClr>
          </a:solidFill>
          <a:ln w="12700">
            <a:solidFill>
              <a:srgbClr val="1D6FA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560320"/>
            <a:ext cx="2011680" cy="2011680"/>
          </a:xfrm>
          <a:prstGeom prst="ellipse">
            <a:avLst/>
          </a:prstGeom>
          <a:solidFill>
            <a:srgbClr val="2196F3">
              <a:alpha val="20000"/>
            </a:srgbClr>
          </a:solidFill>
          <a:ln w="12700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0080"/>
            <a:ext cx="1645920" cy="2926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PROJECT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Sales Intelligence Report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114800" cy="365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26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 Framework  ·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→ Complication → Resolution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206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3152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34640" y="4206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$1.26M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83464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4206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$1,054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93776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40880" y="4206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41.4%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04088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 &amp; Printer Lead Revenue, But Phone Lags 22% Behind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by Product  ·  Bar Chart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80467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Type: Column — comparing values across categories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115568"/>
          <a:ext cx="56692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1115568"/>
            <a:ext cx="2606040" cy="356616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355080" y="12984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96F3"/>
                </a:solidFill>
              </a:rPr>
              <a:t>KEY INSIGHT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355080" y="1627632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nearly tied as the top earners (~$195K each, 15.5% share).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55080" y="2697480"/>
            <a:ext cx="2331720" cy="18288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55080" y="278892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trails at $151K —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below the leader.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Reassess pricing or marketing strategy.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DecodeLabs Orders Dataset  ·  n=1,200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of Revenue ($519K) Is Lost to Cancellations &amp; Returns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Distribution  ·  Stacked Bar Chart showing composition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15568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115568"/>
            <a:ext cx="2834640" cy="1097280"/>
          </a:xfrm>
          <a:prstGeom prst="rect">
            <a:avLst/>
          </a:prstGeom>
          <a:solidFill>
            <a:srgbClr val="FFEBEE"/>
          </a:solidFill>
          <a:ln w="19050">
            <a:solidFill>
              <a:srgbClr val="EF9A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126480" y="120700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$519K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6126480" y="16824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26480" y="192024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of total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89320" y="2377440"/>
            <a:ext cx="2834640" cy="1097280"/>
          </a:xfrm>
          <a:prstGeom prst="rect">
            <a:avLst/>
          </a:prstGeom>
          <a:solidFill>
            <a:srgbClr val="FFF3E0"/>
          </a:solidFill>
          <a:ln w="19050">
            <a:solidFill>
              <a:srgbClr val="FFCC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126480" y="24688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497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6126480" y="29443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Outcomes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26480" y="31821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+ Returned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89320" y="3639312"/>
            <a:ext cx="2834640" cy="1097280"/>
          </a:xfrm>
          <a:prstGeom prst="rect">
            <a:avLst/>
          </a:prstGeom>
          <a:solidFill>
            <a:srgbClr val="E8F5E9"/>
          </a:solidFill>
          <a:ln w="1905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26480" y="373075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19.3%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6126480" y="42062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Rate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126480" y="444398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231 delivered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DecodeLabs Orders Dataset  ·  n=1,200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Fell 13% from 2023 to 2024 — Trend Requires Intervention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 2023 vs 2024  ·  Line Chart — tracking change over time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15568"/>
          <a:ext cx="59436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537960" y="1115568"/>
            <a:ext cx="2286000" cy="1188720"/>
          </a:xfrm>
          <a:prstGeom prst="rect">
            <a:avLst/>
          </a:prstGeom>
          <a:solidFill>
            <a:srgbClr val="E3F2FD"/>
          </a:solidFill>
          <a:ln w="19050">
            <a:solidFill>
              <a:srgbClr val="90CA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675120" y="12070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675120" y="1554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$552,643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675120" y="18928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 orders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537960" y="2487168"/>
            <a:ext cx="2286000" cy="1188720"/>
          </a:xfrm>
          <a:prstGeom prst="rect">
            <a:avLst/>
          </a:prstGeom>
          <a:solidFill>
            <a:srgbClr val="FFEBEE"/>
          </a:solidFill>
          <a:ln w="19050">
            <a:solidFill>
              <a:srgbClr val="EF9A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75120" y="25786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675120" y="2926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$480,236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675120" y="32644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459 orders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537960" y="3858768"/>
            <a:ext cx="2286000" cy="822960"/>
          </a:xfrm>
          <a:prstGeom prst="rect">
            <a:avLst/>
          </a:prstGeom>
          <a:solidFill>
            <a:srgbClr val="FFF9C4"/>
          </a:solidFill>
          <a:ln w="19050">
            <a:solidFill>
              <a:srgbClr val="F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37960" y="3858768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2025 partial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(Jan–Jun only)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$231,883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DecodeLabs Orders Dataset  ·  n=1,200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Instagram — It Drives 21% More Revenue than Referral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Referral Source  ·  Bar Chart — comparing values across categories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15568"/>
          <a:ext cx="56692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217920" y="1115568"/>
            <a:ext cx="2606040" cy="35661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355080" y="12984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7D32"/>
                </a:solidFill>
              </a:rPr>
              <a:t>RESOLUTION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355080" y="16642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Increase Instagram ad spend; it delivers the highest ROI.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355080" y="2322576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Reduce Referral program costs — weakest channel at $226K.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355080" y="2980944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Facebook has highest avg order ($1,098) — test premium offers.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355080" y="363931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A/B test email campaigns to close the gap with Instagram.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DecodeLabs Orders Dataset  ·  n=1,200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FREESHIP Coupon Generates 11% More Revenue Than WINTER15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 Code Performance — Total Revenue &amp; Avg Order Value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15568"/>
          <a:ext cx="512064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365760" y="3291840"/>
          <a:ext cx="512064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669280" y="1115568"/>
            <a:ext cx="3154680" cy="3730752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833872" y="129844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96F3"/>
                </a:solidFill>
              </a:rPr>
              <a:t>KEY INSIGHT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833872" y="1664208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FREESHIP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strongest coupon — most revenue ($335K) and highest avg order ($1,070).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833872" y="2578608"/>
            <a:ext cx="2834640" cy="18288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833872" y="2706624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WINTER15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the lowest avg order ($1,036). Consider replacing it with a higher-incentive promotion.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833872" y="3621024"/>
            <a:ext cx="2834640" cy="18288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833872" y="3730752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without coupons spend $1,043 on avg — higher than WINTER15. Coupon must add clear value.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DecodeLabs Orders Dataset  ·  n=1,200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&amp;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321040" cy="27432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2697480" cy="2834640"/>
          </a:xfrm>
          <a:prstGeom prst="rect">
            <a:avLst/>
          </a:prstGeom>
          <a:solidFill>
            <a:srgbClr val="0D2A4F"/>
          </a:solidFill>
          <a:ln w="19050">
            <a:solidFill>
              <a:srgbClr val="90CA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2697480" cy="329184"/>
          </a:xfrm>
          <a:prstGeom prst="rect">
            <a:avLst/>
          </a:prstGeom>
          <a:solidFill>
            <a:srgbClr val="0D2A4F"/>
          </a:solidFill>
          <a:ln w="19050">
            <a:solidFill>
              <a:srgbClr val="90CA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0058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0CAF9"/>
                </a:solidFill>
              </a:rPr>
              <a:t>SITUATION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1371600"/>
            <a:ext cx="248716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processed 1,200 orders generating $1.26M in revenue. Chair and Printer lead at $195K each.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960120"/>
            <a:ext cx="2697480" cy="2834640"/>
          </a:xfrm>
          <a:prstGeom prst="rect">
            <a:avLst/>
          </a:prstGeom>
          <a:solidFill>
            <a:srgbClr val="3E0A0A"/>
          </a:solidFill>
          <a:ln w="19050">
            <a:solidFill>
              <a:srgbClr val="EF9A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960120"/>
            <a:ext cx="2697480" cy="329184"/>
          </a:xfrm>
          <a:prstGeom prst="rect">
            <a:avLst/>
          </a:prstGeom>
          <a:solidFill>
            <a:srgbClr val="3E0A0A"/>
          </a:solidFill>
          <a:ln w="19050">
            <a:solidFill>
              <a:srgbClr val="EF9A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10058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F9A9A"/>
                </a:solidFill>
              </a:rPr>
              <a:t>COMPLICATION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47288" y="1371600"/>
            <a:ext cx="248716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of all orders ($519K) are Cancelled or Returned — a critical leakage threatening business health.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960120"/>
            <a:ext cx="2697480" cy="2834640"/>
          </a:xfrm>
          <a:prstGeom prst="rect">
            <a:avLst/>
          </a:prstGeom>
          <a:solidFill>
            <a:srgbClr val="0A2E0A"/>
          </a:solidFill>
          <a:ln w="1905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960120"/>
            <a:ext cx="2697480" cy="329184"/>
          </a:xfrm>
          <a:prstGeom prst="rect">
            <a:avLst/>
          </a:prstGeom>
          <a:solidFill>
            <a:srgbClr val="0A2E0A"/>
          </a:solidFill>
          <a:ln w="19050">
            <a:solidFill>
              <a:srgbClr val="A5D6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7648" y="10058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5D6A7"/>
                </a:solidFill>
              </a:rPr>
              <a:t>RESOLUTION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27648" y="1371600"/>
            <a:ext cx="248716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Instagram budget, reduce Referral spend, promote FREESHIP coupon, and investigate Chair cancellations immediately.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95020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Actions: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29768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Fix 41% cancellation/return rate — investigate root causes immediately    ·    2.  Shift marketing budget toward Instagram &amp; Facebook    ·    3.  Replace WINTER15 with a higher-value coupon offer    ·    4.  Launch retention campaign for Cancelled/Returned customers ($519K at stake)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 — DecodeLabs Project 4</dc:title>
  <dc:subject>PptxGenJS Presentation</dc:subject>
  <dc:creator>PptxGenJS</dc:creator>
  <cp:lastModifiedBy>PptxGenJS</cp:lastModifiedBy>
  <cp:revision>1</cp:revision>
  <dcterms:created xsi:type="dcterms:W3CDTF">2026-06-06T19:41:42Z</dcterms:created>
  <dcterms:modified xsi:type="dcterms:W3CDTF">2026-06-06T19:41:42Z</dcterms:modified>
</cp:coreProperties>
</file>